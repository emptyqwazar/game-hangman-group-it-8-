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7" r:id="rId2"/>
    <p:sldId id="257" r:id="rId3"/>
    <p:sldId id="437" r:id="rId4"/>
    <p:sldId id="421" r:id="rId5"/>
    <p:sldId id="424" r:id="rId6"/>
    <p:sldId id="467" r:id="rId7"/>
    <p:sldId id="420" r:id="rId8"/>
    <p:sldId id="468" r:id="rId9"/>
    <p:sldId id="469" r:id="rId10"/>
    <p:sldId id="447" r:id="rId11"/>
    <p:sldId id="471" r:id="rId12"/>
  </p:sldIdLst>
  <p:sldSz cx="12192000" cy="6858000"/>
  <p:notesSz cx="6858000" cy="9144000"/>
  <p:embeddedFontLst>
    <p:embeddedFont>
      <p:font typeface="Segoe UI Black" panose="020B0A02040204020203" pitchFamily="34" charset="0"/>
      <p:bold r:id="rId15"/>
      <p:boldItalic r:id="rId16"/>
    </p:embeddedFont>
    <p:embeddedFont>
      <p:font typeface="Malgun Gothic" panose="020B0503020000020004" pitchFamily="34" charset="-127"/>
      <p:regular r:id="rId17"/>
      <p:bold r:id="rId18"/>
    </p:embeddedFont>
    <p:embeddedFont>
      <p:font typeface="Book Antiqua" panose="02040602050305030304" pitchFamily="18" charset="0"/>
      <p:regular r:id="rId19"/>
      <p:bold r:id="rId20"/>
      <p:italic r:id="rId21"/>
      <p:boldItalic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174F"/>
    <a:srgbClr val="0F2FFA"/>
    <a:srgbClr val="BB03BA"/>
    <a:srgbClr val="FF0500"/>
    <a:srgbClr val="FFBE11"/>
    <a:srgbClr val="FF4593"/>
    <a:srgbClr val="3E61FE"/>
    <a:srgbClr val="DBF9FE"/>
    <a:srgbClr val="F5F7FB"/>
    <a:srgbClr val="6DF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6" autoAdjust="0"/>
    <p:restoredTop sz="94660"/>
  </p:normalViewPr>
  <p:slideViewPr>
    <p:cSldViewPr snapToGrid="0">
      <p:cViewPr varScale="1">
        <p:scale>
          <a:sx n="62" d="100"/>
          <a:sy n="62" d="100"/>
        </p:scale>
        <p:origin x="46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0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">
            <a:hlinkClick r:id="rId2"/>
            <a:extLst>
              <a:ext uri="{FF2B5EF4-FFF2-40B4-BE49-F238E27FC236}">
                <a16:creationId xmlns:a16="http://schemas.microsoft.com/office/drawing/2014/main" id="{0F941A56-4D06-4D0C-AE4D-7D12780AF0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12" name="TextBox 11">
            <a:hlinkClick r:id="rId5"/>
            <a:extLst>
              <a:ext uri="{FF2B5EF4-FFF2-40B4-BE49-F238E27FC236}">
                <a16:creationId xmlns:a16="http://schemas.microsoft.com/office/drawing/2014/main" id="{633C7B68-9F3E-46C4-B32E-DE27DA78C967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EED294-E4EE-4857-A226-3DED63F5CAA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74551080-7393-4B60-8610-C7E42D736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220F2078-3646-41D7-8428-44088B32A0B2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DD23EE-09F0-4A4F-99CD-025A5E7D93D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53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DD8849F6-C2ED-4995-9567-000EB32A7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E0C8BDCB-17F1-4BC5-A58B-3C790F842AA1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57F50E-5536-49E8-AF76-29ED4DB69A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9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EF1D3CE6-8C65-408D-83AD-E20A63FB8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7DE1D7AC-CA82-47E5-87BE-F1768C270DAF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8D550F2-3506-4DCF-91FE-9101C0431E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0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E5E2BF7B-4075-46D3-A1CE-3E78EFF7D2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3D61E0E7-978B-4630-8A92-C23059AF61C3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A52DE9-3603-435F-99FC-1D04AF21CBA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41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8775E8-CD55-4960-83A7-060638DF29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D0971343-D7BD-4A81-ACDE-2184B09152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21433" y="732971"/>
            <a:ext cx="3499134" cy="5392058"/>
          </a:xfrm>
          <a:prstGeom prst="roundRect">
            <a:avLst>
              <a:gd name="adj" fmla="val 572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329C33A6-74D8-481D-BD44-F2EA65B0E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5C17F9BA-CB18-47B6-9286-9BC8C29F0E8A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995F84FE-0F6B-434F-9F5D-76CC40C9C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86215C85-1681-421F-BA50-FB7AF9E07232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67C6D31-0A49-4E03-87C8-3B7EE793C53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24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3B8E76D-7CBA-4EA2-BFA8-66A40B2C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126E3533-752C-4790-89FA-71025F2EFFE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90793" y="1873100"/>
            <a:ext cx="4640005" cy="3111801"/>
          </a:xfrm>
          <a:prstGeom prst="roundRect">
            <a:avLst>
              <a:gd name="adj" fmla="val 859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F34ECF0E-CA04-4BBD-8B7C-59BC0E88B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B1461142-40C6-46C6-9419-5F5FE9476AB6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90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ADC0815-605E-4DDA-9414-DBC7629EB6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B3A60CEE-7384-4BED-B28A-9C2D602AE4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2495" y="1082485"/>
            <a:ext cx="3045506" cy="4693030"/>
          </a:xfrm>
          <a:prstGeom prst="roundRect">
            <a:avLst>
              <a:gd name="adj" fmla="val 844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DF6112E3-5963-4BC2-955A-B88E3E176F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C51FC7E1-8E12-47AE-A599-C10095908EF8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264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04A9BCB2-8EB9-4C39-80D0-876837F805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BCF3D962-BF8B-4BEE-B016-1115C52A6323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16A90B-5C3F-4C47-9039-C22C357760A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43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5E6AC432-817A-4BFB-8F88-6056F9F8B1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10" name="TextBox 9">
            <a:hlinkClick r:id="rId5"/>
            <a:extLst>
              <a:ext uri="{FF2B5EF4-FFF2-40B4-BE49-F238E27FC236}">
                <a16:creationId xmlns:a16="http://schemas.microsoft.com/office/drawing/2014/main" id="{AF279E3E-2506-4470-988F-728523BDE3CE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A0EC80-D3F5-4AAD-A0A4-42DDD9B59FC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7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CEB0C31-93D5-46ED-A3E8-410DC085D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35DA1B2B-764C-41E0-9FCD-610B52617D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EA79BC06-6EA7-4484-B916-CDD810F26F1F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72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2AC7522-ECEE-450A-B131-244CE1A035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1" r="20521"/>
          <a:stretch/>
        </p:blipFill>
        <p:spPr>
          <a:xfrm flipH="1" flipV="1">
            <a:off x="0" y="0"/>
            <a:ext cx="7749002" cy="6858000"/>
          </a:xfrm>
          <a:prstGeom prst="rect">
            <a:avLst/>
          </a:prstGeom>
        </p:spPr>
      </p:pic>
      <p:sp>
        <p:nvSpPr>
          <p:cNvPr id="4" name="그림 개체 틀 4">
            <a:extLst>
              <a:ext uri="{FF2B5EF4-FFF2-40B4-BE49-F238E27FC236}">
                <a16:creationId xmlns:a16="http://schemas.microsoft.com/office/drawing/2014/main" id="{C3FF4430-7D6D-4578-81F3-27479187AD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41554" y="0"/>
            <a:ext cx="4450446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6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B2B6C320-8C47-437A-8186-7361433170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0E2218F7-B23F-4D28-BE39-08E54B542336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339326F8-6548-44AE-922F-F500809996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D51FAFB1-6B04-46C6-8320-BFDD94FC5776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2030F2-9E79-4792-88F2-2D9E9F7A6EC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6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2D724B9-1DF1-46C2-8EC2-7244B20B5C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96B941C6-0E4F-41D6-90B6-013404C67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64834DB4-B098-46A5-B9ED-A5B82D9A4B47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57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96555EC-1E8C-4C56-86DA-DA906D405C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4FCFD344-7645-4707-B944-FCCFA6EB54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262585" y="1559218"/>
            <a:ext cx="3737430" cy="3739564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33BD5624-BE5B-470A-864B-4FE2F2EF10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72DAF3CD-6B21-49DD-BF25-BB8B9836A3B8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34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1451FCE8-7A45-4060-93AA-5236A758C6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E1346D03-CD5D-42DB-9D48-296C16152C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670315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BC42D9B7-8C04-4CC7-A12D-7FA7EC25515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19901" y="916690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3258F721-10CA-43DE-A751-3E949A8459A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70315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51446B5D-47CF-41A8-B667-275A20F25A5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1" y="3665315"/>
            <a:ext cx="1307340" cy="1308087"/>
          </a:xfrm>
          <a:prstGeom prst="ellipse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720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14" name="Graphic 3">
            <a:hlinkClick r:id="rId3"/>
            <a:extLst>
              <a:ext uri="{FF2B5EF4-FFF2-40B4-BE49-F238E27FC236}">
                <a16:creationId xmlns:a16="http://schemas.microsoft.com/office/drawing/2014/main" id="{54E67F60-5650-4BEC-9881-00F1E2C13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15" name="TextBox 14">
            <a:hlinkClick r:id="rId6"/>
            <a:extLst>
              <a:ext uri="{FF2B5EF4-FFF2-40B4-BE49-F238E27FC236}">
                <a16:creationId xmlns:a16="http://schemas.microsoft.com/office/drawing/2014/main" id="{32567EE4-2D8D-4045-8FF0-71FC523C9F6D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72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CFDBA25-DE1D-4462-A517-51BD54EE6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11">
            <a:extLst>
              <a:ext uri="{FF2B5EF4-FFF2-40B4-BE49-F238E27FC236}">
                <a16:creationId xmlns:a16="http://schemas.microsoft.com/office/drawing/2014/main" id="{DC5072E8-54C3-406E-A799-1B56E833BB9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68193" y="723085"/>
            <a:ext cx="2563220" cy="5415776"/>
          </a:xfrm>
          <a:prstGeom prst="roundRect">
            <a:avLst>
              <a:gd name="adj" fmla="val 1126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C0E26EBE-E021-4899-BA45-CABE6FC73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94CB9B08-7C98-4F49-A17A-ACC393C62845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0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9FA715B-9593-4D0A-A6AF-B14D81AA2D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5">
            <a:extLst>
              <a:ext uri="{FF2B5EF4-FFF2-40B4-BE49-F238E27FC236}">
                <a16:creationId xmlns:a16="http://schemas.microsoft.com/office/drawing/2014/main" id="{CC0BF274-7A07-4BBD-9A4C-3A4F451344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09091" y="945615"/>
            <a:ext cx="6633748" cy="4966769"/>
          </a:xfrm>
          <a:prstGeom prst="roundRect">
            <a:avLst>
              <a:gd name="adj" fmla="val 174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A47307B4-3212-4477-81B2-CE042DDA8F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B59B76A9-6E5C-4EF6-ACB5-BCF8DD24FA61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39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EFB326C-BDF1-49D5-AECB-852B6363E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46831C4-CAD5-47AC-A5C0-3747EEE73FB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33830" y="895348"/>
            <a:ext cx="7067557" cy="4608515"/>
          </a:xfrm>
          <a:prstGeom prst="roundRect">
            <a:avLst>
              <a:gd name="adj" fmla="val 68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3970D9BC-EC9C-49AC-AA63-827DC5D669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0676B46E-69DE-4FC0-AAB7-71416D1BED26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AD94639B-A3D4-42AC-9BAB-F352F76602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52D50B14-C9C6-4863-A564-563048B64011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hlinkClick r:id="rId2"/>
            <a:extLst>
              <a:ext uri="{FF2B5EF4-FFF2-40B4-BE49-F238E27FC236}">
                <a16:creationId xmlns:a16="http://schemas.microsoft.com/office/drawing/2014/main" id="{344B77BC-0D14-4614-9959-DDD43CBCEB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9909"/>
          <a:stretch/>
        </p:blipFill>
        <p:spPr>
          <a:xfrm>
            <a:off x="6048361" y="6866386"/>
            <a:ext cx="1700641" cy="187001"/>
          </a:xfrm>
          <a:prstGeom prst="rect">
            <a:avLst/>
          </a:prstGeom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40CABE70-4F5D-40CE-BCE5-B81133A8C400}"/>
              </a:ext>
            </a:extLst>
          </p:cNvPr>
          <p:cNvSpPr txBox="1"/>
          <p:nvPr userDrawn="1"/>
        </p:nvSpPr>
        <p:spPr>
          <a:xfrm>
            <a:off x="4442999" y="6826857"/>
            <a:ext cx="17418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687" r:id="rId21"/>
    <p:sldLayoutId id="2147483664" r:id="rId2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D73193-E2D0-4F9B-B26C-844A1F06F4BA}"/>
              </a:ext>
            </a:extLst>
          </p:cNvPr>
          <p:cNvSpPr txBox="1"/>
          <p:nvPr/>
        </p:nvSpPr>
        <p:spPr>
          <a:xfrm>
            <a:off x="3167342" y="1997879"/>
            <a:ext cx="6038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Виселица</a:t>
            </a:r>
            <a:endParaRPr lang="ko-KR" alt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AB353-FCAC-4472-B4E9-0F209CF851B2}"/>
              </a:ext>
            </a:extLst>
          </p:cNvPr>
          <p:cNvSpPr txBox="1"/>
          <p:nvPr/>
        </p:nvSpPr>
        <p:spPr>
          <a:xfrm>
            <a:off x="3216352" y="3013542"/>
            <a:ext cx="59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solidFill>
                  <a:srgbClr val="0B0202"/>
                </a:solidFill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dirty="0">
                <a:solidFill>
                  <a:schemeClr val="tx1"/>
                </a:solidFill>
                <a:latin typeface="Book Antiqua" panose="02040602050305030304" pitchFamily="18" charset="0"/>
              </a:rPr>
              <a:t>(угадай слово)</a:t>
            </a:r>
            <a:endParaRPr lang="ko-KR" altLang="en-US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8B243-47A7-4703-B64E-1CCA92A9BFD8}"/>
              </a:ext>
            </a:extLst>
          </p:cNvPr>
          <p:cNvSpPr txBox="1"/>
          <p:nvPr/>
        </p:nvSpPr>
        <p:spPr>
          <a:xfrm>
            <a:off x="8017156" y="4971245"/>
            <a:ext cx="3506654" cy="9233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b="1" dirty="0">
                <a:latin typeface="Book Antiqua" panose="02040602050305030304" pitchFamily="18" charset="0"/>
              </a:rPr>
              <a:t>Выполнили</a:t>
            </a:r>
            <a:r>
              <a:rPr lang="en-US" altLang="ko-KR" b="1" dirty="0">
                <a:latin typeface="Book Antiqua" panose="02040602050305030304" pitchFamily="18" charset="0"/>
              </a:rPr>
              <a:t>:</a:t>
            </a:r>
            <a:r>
              <a:rPr lang="ru-RU" altLang="ko-KR" b="1" dirty="0">
                <a:latin typeface="Book Antiqua" panose="02040602050305030304" pitchFamily="18" charset="0"/>
              </a:rPr>
              <a:t> Фаррахов </a:t>
            </a:r>
            <a:r>
              <a:rPr lang="ru-RU" altLang="ko-KR" b="1" dirty="0" err="1">
                <a:latin typeface="Book Antiqua" panose="02040602050305030304" pitchFamily="18" charset="0"/>
              </a:rPr>
              <a:t>Рудэн</a:t>
            </a:r>
            <a:r>
              <a:rPr lang="ru-RU" altLang="ko-KR" b="1" dirty="0">
                <a:latin typeface="Book Antiqua" panose="02040602050305030304" pitchFamily="18" charset="0"/>
              </a:rPr>
              <a:t>, Антипин Дмитрий, Витухина Анастасия</a:t>
            </a:r>
            <a:endParaRPr lang="en-US" altLang="ko-KR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092419-3B0B-4443-A7CB-982F21D7FE4F}"/>
              </a:ext>
            </a:extLst>
          </p:cNvPr>
          <p:cNvSpPr txBox="1"/>
          <p:nvPr/>
        </p:nvSpPr>
        <p:spPr>
          <a:xfrm>
            <a:off x="2250043" y="1265464"/>
            <a:ext cx="7691914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endParaRPr lang="ko-KR" altLang="en-US" sz="2000" b="0" dirty="0">
              <a:latin typeface="Book Antiqua" panose="0204060205030503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91A4F-7043-49E9-8840-F3A21140DB26}"/>
              </a:ext>
            </a:extLst>
          </p:cNvPr>
          <p:cNvSpPr txBox="1"/>
          <p:nvPr/>
        </p:nvSpPr>
        <p:spPr>
          <a:xfrm>
            <a:off x="1713211" y="1910322"/>
            <a:ext cx="8228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Разработать консольную версию классической игры "Виселица"</a:t>
            </a:r>
            <a:endParaRPr lang="ko-KR" altLang="en-US" sz="2000" dirty="0">
              <a:latin typeface="Book Antiqua" panose="02040602050305030304" pitchFamily="18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9E52EF-56A5-4424-951E-A69204D9BA7F}"/>
              </a:ext>
            </a:extLst>
          </p:cNvPr>
          <p:cNvSpPr/>
          <p:nvPr/>
        </p:nvSpPr>
        <p:spPr>
          <a:xfrm>
            <a:off x="1713211" y="1315915"/>
            <a:ext cx="30845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Задача:</a:t>
            </a:r>
            <a:endParaRPr lang="ko-KR" altLang="en-US" sz="2800" dirty="0">
              <a:latin typeface="Book Antiqua" panose="0204060205030503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F07591-F3B2-48B7-8925-4A879095D8F6}"/>
              </a:ext>
            </a:extLst>
          </p:cNvPr>
          <p:cNvSpPr txBox="1"/>
          <p:nvPr/>
        </p:nvSpPr>
        <p:spPr>
          <a:xfrm>
            <a:off x="1831409" y="3756981"/>
            <a:ext cx="90013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Освоить работу со строками и массивами в Linux-среде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Реализовать игровую логику с использованием условных операторов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Организовать взаимодействие с пользователем через терминал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Научиться работать в команде над общим проектом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ko-KR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1084F-7900-F20B-0653-D6E0A71E1113}"/>
              </a:ext>
            </a:extLst>
          </p:cNvPr>
          <p:cNvSpPr txBox="1"/>
          <p:nvPr/>
        </p:nvSpPr>
        <p:spPr>
          <a:xfrm>
            <a:off x="1831409" y="310101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Цели</a:t>
            </a:r>
            <a:r>
              <a:rPr lang="ru-RU" sz="3200" b="1" dirty="0">
                <a:latin typeface="Book Antiqua" panose="0204060205030503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0928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796BDE5-AD5B-4221-97E6-CF862F9768FE}"/>
              </a:ext>
            </a:extLst>
          </p:cNvPr>
          <p:cNvSpPr txBox="1"/>
          <p:nvPr/>
        </p:nvSpPr>
        <p:spPr>
          <a:xfrm>
            <a:off x="2691082" y="711513"/>
            <a:ext cx="7656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Book Antiqua" panose="02040602050305030304" pitchFamily="18" charset="0"/>
                <a:ea typeface="Segoe UI Black" panose="020B0A02040204020203" pitchFamily="34" charset="0"/>
              </a:rPr>
              <a:t>Использованные технологии:</a:t>
            </a:r>
            <a:endParaRPr lang="ko-KR" altLang="en-US" sz="5400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C47DF9-8218-47CF-8DDA-A42E0AB11154}"/>
              </a:ext>
            </a:extLst>
          </p:cNvPr>
          <p:cNvSpPr txBox="1"/>
          <p:nvPr/>
        </p:nvSpPr>
        <p:spPr>
          <a:xfrm>
            <a:off x="435429" y="1865675"/>
            <a:ext cx="73998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z="2800" dirty="0">
                <a:latin typeface="Book Antiqua" panose="02040602050305030304" pitchFamily="18" charset="0"/>
                <a:ea typeface="Segoe UI Black" panose="020B0A02040204020203" pitchFamily="34" charset="0"/>
              </a:rPr>
              <a:t>🐍 </a:t>
            </a:r>
            <a:r>
              <a:rPr lang="ru-RU" sz="2800" b="1" dirty="0">
                <a:latin typeface="Book Antiqua" panose="02040602050305030304" pitchFamily="18" charset="0"/>
                <a:ea typeface="Segoe UI Black" panose="020B0A02040204020203" pitchFamily="34" charset="0"/>
              </a:rPr>
              <a:t>Python 3</a:t>
            </a:r>
            <a:r>
              <a:rPr lang="ru-RU" sz="2800" dirty="0">
                <a:latin typeface="Book Antiqua" panose="02040602050305030304" pitchFamily="18" charset="0"/>
                <a:ea typeface="Segoe UI Black" panose="020B0A02040204020203" pitchFamily="34" charset="0"/>
              </a:rPr>
              <a:t> - язык программирования</a:t>
            </a:r>
          </a:p>
          <a:p>
            <a:pPr algn="ctr">
              <a:lnSpc>
                <a:spcPct val="100000"/>
              </a:lnSpc>
            </a:pPr>
            <a:endParaRPr lang="ko-KR" altLang="en-US" sz="36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CEC31-03B1-13B3-0485-1BD02C3D9F19}"/>
              </a:ext>
            </a:extLst>
          </p:cNvPr>
          <p:cNvSpPr txBox="1"/>
          <p:nvPr/>
        </p:nvSpPr>
        <p:spPr>
          <a:xfrm>
            <a:off x="5998130" y="2358118"/>
            <a:ext cx="63239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800" dirty="0">
              <a:latin typeface="Book Antiqua" panose="02040602050305030304" pitchFamily="18" charset="0"/>
            </a:endParaRPr>
          </a:p>
          <a:p>
            <a:r>
              <a:rPr lang="ru-RU" sz="2800" dirty="0">
                <a:latin typeface="Book Antiqua" panose="02040602050305030304" pitchFamily="18" charset="0"/>
              </a:rPr>
              <a:t>🐧 Linux - операционная среда</a:t>
            </a:r>
          </a:p>
          <a:p>
            <a:endParaRPr lang="ru-RU" sz="2800" dirty="0">
              <a:latin typeface="Book Antiqua" panose="02040602050305030304" pitchFamily="18" charset="0"/>
            </a:endParaRPr>
          </a:p>
          <a:p>
            <a:endParaRPr lang="ru-RU" sz="2800" dirty="0">
              <a:latin typeface="Book Antiqua" panose="0204060205030503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8B4A9-80AA-9B6A-09F4-C561ABB73835}"/>
              </a:ext>
            </a:extLst>
          </p:cNvPr>
          <p:cNvSpPr txBox="1"/>
          <p:nvPr/>
        </p:nvSpPr>
        <p:spPr>
          <a:xfrm>
            <a:off x="901402" y="508194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800" dirty="0">
              <a:latin typeface="Book Antiqua" panose="02040602050305030304" pitchFamily="18" charset="0"/>
            </a:endParaRPr>
          </a:p>
          <a:p>
            <a:r>
              <a:rPr lang="ru-RU" sz="2800" dirty="0">
                <a:latin typeface="Book Antiqua" panose="02040602050305030304" pitchFamily="18" charset="0"/>
              </a:rPr>
              <a:t>📁 </a:t>
            </a:r>
            <a:r>
              <a:rPr lang="ru-RU" sz="2800" dirty="0" err="1">
                <a:latin typeface="Book Antiqua" panose="02040602050305030304" pitchFamily="18" charset="0"/>
              </a:rPr>
              <a:t>Git</a:t>
            </a:r>
            <a:r>
              <a:rPr lang="ru-RU" sz="2800" dirty="0">
                <a:latin typeface="Book Antiqua" panose="02040602050305030304" pitchFamily="18" charset="0"/>
              </a:rPr>
              <a:t> - система контроля версий</a:t>
            </a:r>
          </a:p>
          <a:p>
            <a:endParaRPr lang="ru-RU" sz="2800" dirty="0">
              <a:latin typeface="Book Antiqua" panose="0204060205030503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D5C858-5A62-2BB2-9FD5-277178BF40B5}"/>
              </a:ext>
            </a:extLst>
          </p:cNvPr>
          <p:cNvSpPr txBox="1"/>
          <p:nvPr/>
        </p:nvSpPr>
        <p:spPr>
          <a:xfrm>
            <a:off x="5998130" y="412783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3200" dirty="0">
              <a:latin typeface="Book Antiqua" panose="02040602050305030304" pitchFamily="18" charset="0"/>
            </a:endParaRPr>
          </a:p>
          <a:p>
            <a:r>
              <a:rPr lang="ru-RU" sz="2800" dirty="0">
                <a:latin typeface="Book Antiqua" panose="02040602050305030304" pitchFamily="18" charset="0"/>
              </a:rPr>
              <a:t>🚀 </a:t>
            </a:r>
            <a:r>
              <a:rPr lang="ru-RU" sz="2800" dirty="0" err="1">
                <a:latin typeface="Book Antiqua" panose="02040602050305030304" pitchFamily="18" charset="0"/>
              </a:rPr>
              <a:t>GitHub</a:t>
            </a:r>
            <a:r>
              <a:rPr lang="ru-RU" sz="2800" dirty="0">
                <a:latin typeface="Book Antiqua" panose="02040602050305030304" pitchFamily="18" charset="0"/>
              </a:rPr>
              <a:t> - хостинг репозитория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35D940-602E-1A66-7594-01938CC7EEBC}"/>
              </a:ext>
            </a:extLst>
          </p:cNvPr>
          <p:cNvSpPr txBox="1"/>
          <p:nvPr/>
        </p:nvSpPr>
        <p:spPr>
          <a:xfrm>
            <a:off x="843738" y="3173726"/>
            <a:ext cx="6211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800" dirty="0">
              <a:latin typeface="Book Antiqua" panose="02040602050305030304" pitchFamily="18" charset="0"/>
            </a:endParaRPr>
          </a:p>
          <a:p>
            <a:r>
              <a:rPr lang="ru-RU" sz="2800" dirty="0">
                <a:latin typeface="Book Antiqua" panose="02040602050305030304" pitchFamily="18" charset="0"/>
              </a:rPr>
              <a:t>⌨️ Терминал - среда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43430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333254-E194-4AC4-826D-96B3859147DA}"/>
              </a:ext>
            </a:extLst>
          </p:cNvPr>
          <p:cNvSpPr txBox="1"/>
          <p:nvPr/>
        </p:nvSpPr>
        <p:spPr>
          <a:xfrm>
            <a:off x="2845732" y="1070154"/>
            <a:ext cx="6299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>
                <a:latin typeface="Book Antiqua" panose="02040602050305030304" pitchFamily="18" charset="0"/>
                <a:cs typeface="Arial" panose="020B0604020202020204" pitchFamily="34" charset="0"/>
              </a:rPr>
              <a:t>Ключевые элементы:</a:t>
            </a:r>
            <a:endParaRPr lang="ko-KR" altLang="en-US" sz="4800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D396C-823C-45BF-8855-ED824F081604}"/>
              </a:ext>
            </a:extLst>
          </p:cNvPr>
          <p:cNvSpPr txBox="1"/>
          <p:nvPr/>
        </p:nvSpPr>
        <p:spPr>
          <a:xfrm>
            <a:off x="2610840" y="2598624"/>
            <a:ext cx="7791508" cy="26776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Работа со строками и массивами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Условные операторы (</a:t>
            </a:r>
            <a:r>
              <a:rPr lang="ru-RU" sz="3200" dirty="0" err="1">
                <a:latin typeface="Book Antiqua" panose="02040602050305030304" pitchFamily="18" charset="0"/>
              </a:rPr>
              <a:t>if</a:t>
            </a:r>
            <a:r>
              <a:rPr lang="ru-RU" sz="3200" dirty="0">
                <a:latin typeface="Book Antiqua" panose="02040602050305030304" pitchFamily="18" charset="0"/>
              </a:rPr>
              <a:t>/</a:t>
            </a:r>
            <a:r>
              <a:rPr lang="ru-RU" sz="3200" dirty="0" err="1">
                <a:latin typeface="Book Antiqua" panose="02040602050305030304" pitchFamily="18" charset="0"/>
              </a:rPr>
              <a:t>else</a:t>
            </a:r>
            <a:r>
              <a:rPr lang="ru-RU" sz="3200" dirty="0">
                <a:latin typeface="Book Antiqua" panose="0204060205030503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Циклы (</a:t>
            </a:r>
            <a:r>
              <a:rPr lang="ru-RU" sz="3200" dirty="0" err="1">
                <a:latin typeface="Book Antiqua" panose="02040602050305030304" pitchFamily="18" charset="0"/>
              </a:rPr>
              <a:t>while</a:t>
            </a:r>
            <a:r>
              <a:rPr lang="ru-RU" sz="3200" dirty="0">
                <a:latin typeface="Book Antiqua" panose="02040602050305030304" pitchFamily="18" charset="0"/>
              </a:rPr>
              <a:t>, </a:t>
            </a:r>
            <a:r>
              <a:rPr lang="ru-RU" sz="3200" dirty="0" err="1">
                <a:latin typeface="Book Antiqua" panose="02040602050305030304" pitchFamily="18" charset="0"/>
              </a:rPr>
              <a:t>for</a:t>
            </a:r>
            <a:r>
              <a:rPr lang="ru-RU" sz="3200" dirty="0">
                <a:latin typeface="Book Antiqua" panose="0204060205030503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Book Antiqua" panose="02040602050305030304" pitchFamily="18" charset="0"/>
              </a:rPr>
              <a:t>Функции ввода/вывода</a:t>
            </a:r>
          </a:p>
          <a:p>
            <a:pPr algn="ctr"/>
            <a:endParaRPr lang="en-US" altLang="ko-KR" sz="4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1B9EDD7-E6F2-4FBC-A647-69E6D2D691D6}"/>
              </a:ext>
            </a:extLst>
          </p:cNvPr>
          <p:cNvSpPr txBox="1"/>
          <p:nvPr/>
        </p:nvSpPr>
        <p:spPr>
          <a:xfrm>
            <a:off x="404737" y="488491"/>
            <a:ext cx="767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3600" b="1" dirty="0">
                <a:latin typeface="Book Antiqua" panose="02040602050305030304" pitchFamily="18" charset="0"/>
                <a:cs typeface="Arial" panose="020B0604020202020204" pitchFamily="34" charset="0"/>
              </a:rPr>
              <a:t>Детальный алгоритм работы:</a:t>
            </a:r>
            <a:endParaRPr lang="ko-KR" altLang="en-US" sz="3600" b="1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4110E9-DF72-4229-8365-A3A5256F3DEC}"/>
              </a:ext>
            </a:extLst>
          </p:cNvPr>
          <p:cNvSpPr txBox="1"/>
          <p:nvPr/>
        </p:nvSpPr>
        <p:spPr>
          <a:xfrm>
            <a:off x="404737" y="1703670"/>
            <a:ext cx="593134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z="1400" b="1" dirty="0"/>
              <a:t>1. Запрос слова у первого игрока → slovo1</a:t>
            </a:r>
          </a:p>
          <a:p>
            <a:r>
              <a:rPr lang="ru-RU" sz="1400" b="1" dirty="0"/>
              <a:t>2. Скрытие введенного слова (цикл с выводом точек)</a:t>
            </a:r>
          </a:p>
          <a:p>
            <a:r>
              <a:rPr lang="ru-RU" sz="1400" b="1" dirty="0"/>
              <a:t>3. Преобразование слова в список букв → slovo2</a:t>
            </a:r>
          </a:p>
          <a:p>
            <a:r>
              <a:rPr lang="ru-RU" sz="1400" b="1" dirty="0"/>
              <a:t>4. Создание списка для отслеживания отгаданных букв → b</a:t>
            </a:r>
          </a:p>
          <a:p>
            <a:r>
              <a:rPr lang="ru-RU" sz="1400" b="1" dirty="0"/>
              <a:t>5. Инициализация счетчика ошибок → k = 1</a:t>
            </a:r>
          </a:p>
          <a:p>
            <a:r>
              <a:rPr lang="ru-RU" sz="1400" b="1" dirty="0"/>
              <a:t>6. Создание списка использованных букв → </a:t>
            </a:r>
            <a:r>
              <a:rPr lang="ru-RU" sz="1400" b="1" dirty="0" err="1"/>
              <a:t>used</a:t>
            </a:r>
            <a:r>
              <a:rPr lang="en-US" sz="1400" b="1" dirty="0"/>
              <a:t>-l</a:t>
            </a:r>
            <a:r>
              <a:rPr lang="ru-RU" sz="1400" b="1" dirty="0" err="1"/>
              <a:t>etters</a:t>
            </a:r>
            <a:endParaRPr lang="ru-RU" sz="1400" b="1" dirty="0"/>
          </a:p>
          <a:p>
            <a:pPr algn="l">
              <a:lnSpc>
                <a:spcPct val="100000"/>
              </a:lnSpc>
            </a:pP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93CC50B-1AE5-4CFE-8381-F2DC71959D49}"/>
              </a:ext>
            </a:extLst>
          </p:cNvPr>
          <p:cNvSpPr/>
          <p:nvPr/>
        </p:nvSpPr>
        <p:spPr>
          <a:xfrm>
            <a:off x="404737" y="1242005"/>
            <a:ext cx="4880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Book Antiqua" panose="02040602050305030304" pitchFamily="18" charset="0"/>
              </a:rPr>
              <a:t>Фаза 1: Инициализация игры</a:t>
            </a:r>
            <a:endParaRPr lang="en-US" altLang="ko-KR" sz="3600" dirty="0">
              <a:latin typeface="Book Antiqua" panose="0204060205030503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531FAB-DFCE-9F11-70BF-69E35F03A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998" y="1692157"/>
            <a:ext cx="4720281" cy="364613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4873C0-3FC3-2002-9385-407C48FD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572"/>
          <a:stretch>
            <a:fillRect/>
          </a:stretch>
        </p:blipFill>
        <p:spPr>
          <a:xfrm>
            <a:off x="554989" y="4179681"/>
            <a:ext cx="4969014" cy="64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0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A1A6-B38E-B364-D5B9-DDD02F314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D790DA1-3871-7ABA-2B89-4737B777CC90}"/>
              </a:ext>
            </a:extLst>
          </p:cNvPr>
          <p:cNvSpPr txBox="1"/>
          <p:nvPr/>
        </p:nvSpPr>
        <p:spPr>
          <a:xfrm>
            <a:off x="732138" y="2274838"/>
            <a:ext cx="59313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z="1600" b="1" dirty="0">
                <a:latin typeface="Book Antiqua" panose="02040602050305030304" pitchFamily="18" charset="0"/>
              </a:rPr>
              <a:t>1. Отображение разделителя "=========="</a:t>
            </a:r>
          </a:p>
          <a:p>
            <a:r>
              <a:rPr lang="ru-RU" sz="1600" b="1" dirty="0">
                <a:latin typeface="Book Antiqua" panose="02040602050305030304" pitchFamily="18" charset="0"/>
              </a:rPr>
              <a:t>2. Вывод начального состояния виселицы</a:t>
            </a:r>
          </a:p>
          <a:p>
            <a:r>
              <a:rPr lang="ru-RU" sz="1600" b="1" dirty="0">
                <a:latin typeface="Book Antiqua" panose="02040602050305030304" pitchFamily="18" charset="0"/>
              </a:rPr>
              <a:t>3. Информирование о количестве букв в слове</a:t>
            </a:r>
          </a:p>
          <a:p>
            <a:r>
              <a:rPr lang="ru-RU" sz="1600" b="1" dirty="0">
                <a:latin typeface="Book Antiqua" panose="02040602050305030304" pitchFamily="18" charset="0"/>
              </a:rPr>
              <a:t>4. Объяснение правил ввода букв</a:t>
            </a:r>
          </a:p>
          <a:p>
            <a:r>
              <a:rPr lang="ru-RU" sz="1600" b="1" dirty="0">
                <a:latin typeface="Book Antiqua" panose="02040602050305030304" pitchFamily="18" charset="0"/>
              </a:rPr>
              <a:t>5. Показ количества доступных попыток</a:t>
            </a:r>
          </a:p>
          <a:p>
            <a:pPr algn="l">
              <a:lnSpc>
                <a:spcPct val="100000"/>
              </a:lnSpc>
            </a:pPr>
            <a:endParaRPr lang="ko-KR" altLang="en-US" sz="24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0A694A-B2DB-1C04-E2CF-AAB5A7A26E24}"/>
              </a:ext>
            </a:extLst>
          </p:cNvPr>
          <p:cNvSpPr/>
          <p:nvPr/>
        </p:nvSpPr>
        <p:spPr>
          <a:xfrm>
            <a:off x="610683" y="788813"/>
            <a:ext cx="9019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Фаза 2: Настройка игрового интерфейса</a:t>
            </a:r>
            <a:endParaRPr lang="en-US" altLang="ko-KR" sz="5400" dirty="0">
              <a:latin typeface="Book Antiqua" panose="0204060205030503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DAB1A2-4759-8CA6-C52C-0FB0C62AD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138" y="1589904"/>
            <a:ext cx="5130558" cy="32170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E5F2F4-1ED8-FF3E-7888-B6FC0F22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83" y="5402437"/>
            <a:ext cx="52578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7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33518E-2026-05A9-F8BF-53C0FAC13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3" t="43484" r="11045" b="18978"/>
          <a:stretch>
            <a:fillRect/>
          </a:stretch>
        </p:blipFill>
        <p:spPr>
          <a:xfrm>
            <a:off x="5360623" y="222421"/>
            <a:ext cx="6337108" cy="22736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204CB9-25D4-4FFA-94DC-27AE9D5EB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004" y="3643056"/>
            <a:ext cx="3632628" cy="27282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D3F6C3B-5CCE-8320-CB6E-805E439E1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00" y="3474887"/>
            <a:ext cx="3371561" cy="26581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E3A3DF-34BE-AC76-7E04-C2519B7EC00C}"/>
              </a:ext>
            </a:extLst>
          </p:cNvPr>
          <p:cNvSpPr txBox="1"/>
          <p:nvPr/>
        </p:nvSpPr>
        <p:spPr>
          <a:xfrm>
            <a:off x="2378526" y="836023"/>
            <a:ext cx="2982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Правила игры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F7928-DDAE-186D-0EE5-2CE9AE6934EC}"/>
              </a:ext>
            </a:extLst>
          </p:cNvPr>
          <p:cNvSpPr txBox="1"/>
          <p:nvPr/>
        </p:nvSpPr>
        <p:spPr>
          <a:xfrm>
            <a:off x="1205700" y="2802052"/>
            <a:ext cx="34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Начало виселицы</a:t>
            </a:r>
            <a:r>
              <a:rPr lang="en-US" sz="2800" b="1" dirty="0">
                <a:latin typeface="Book Antiqua" panose="02040602050305030304" pitchFamily="18" charset="0"/>
              </a:rPr>
              <a:t>:</a:t>
            </a:r>
            <a:endParaRPr lang="ru-RU" sz="2800" b="1" dirty="0">
              <a:latin typeface="Book Antiqua" panose="0204060205030503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97A5E4-F0E5-BC0F-832D-922687F284E3}"/>
              </a:ext>
            </a:extLst>
          </p:cNvPr>
          <p:cNvSpPr txBox="1"/>
          <p:nvPr/>
        </p:nvSpPr>
        <p:spPr>
          <a:xfrm>
            <a:off x="6809160" y="3149493"/>
            <a:ext cx="3571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Конец виселицы</a:t>
            </a:r>
            <a:r>
              <a:rPr lang="en-US" sz="2800" b="1" dirty="0">
                <a:latin typeface="Book Antiqua" panose="02040602050305030304" pitchFamily="18" charset="0"/>
              </a:rPr>
              <a:t>:</a:t>
            </a:r>
            <a:endParaRPr lang="ru-RU" sz="28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6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9AB7C-132F-ABD5-00B9-A841C994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B357E5F-2C9A-BDB7-DF86-382C3B30F967}"/>
              </a:ext>
            </a:extLst>
          </p:cNvPr>
          <p:cNvSpPr txBox="1"/>
          <p:nvPr/>
        </p:nvSpPr>
        <p:spPr>
          <a:xfrm>
            <a:off x="288324" y="1449858"/>
            <a:ext cx="637515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z="1400" b="1" dirty="0">
                <a:latin typeface="Book Antiqua" panose="02040602050305030304" pitchFamily="18" charset="0"/>
              </a:rPr>
              <a:t>ЦИКЛ (пока есть </a:t>
            </a:r>
            <a:r>
              <a:rPr lang="ru-RU" sz="1400" b="1" dirty="0" err="1">
                <a:latin typeface="Book Antiqua" panose="02040602050305030304" pitchFamily="18" charset="0"/>
              </a:rPr>
              <a:t>неотгаданные</a:t>
            </a:r>
            <a:r>
              <a:rPr lang="ru-RU" sz="1400" b="1" dirty="0">
                <a:latin typeface="Book Antiqua" panose="02040602050305030304" pitchFamily="18" charset="0"/>
              </a:rPr>
              <a:t> буквы в списке b):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1. Отображение текущего прогресса (список b)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2. Запрос буквы у игрока → s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3. ПРОВЕРКА: была ли буква уже введена?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   - Да: сообщение об ошибке, продолжение цикла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   - Нет: добавление буквы в </a:t>
            </a:r>
            <a:r>
              <a:rPr lang="ru-RU" sz="1400" b="1" dirty="0" err="1">
                <a:latin typeface="Book Antiqua" panose="02040602050305030304" pitchFamily="18" charset="0"/>
              </a:rPr>
              <a:t>used_letters</a:t>
            </a:r>
            <a:endParaRPr lang="ru-RU" sz="1400" b="1" dirty="0">
              <a:latin typeface="Book Antiqua" panose="02040602050305030304" pitchFamily="18" charset="0"/>
            </a:endParaRPr>
          </a:p>
          <a:p>
            <a:r>
              <a:rPr lang="ru-RU" sz="1400" b="1" dirty="0">
                <a:latin typeface="Book Antiqua" panose="02040602050305030304" pitchFamily="18" charset="0"/>
              </a:rPr>
              <a:t>  4. ПРОВЕРКА: есть ли буква в загаданном слове?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   - Да: открытие буквы во всех позициях, сообщение об успехе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   - Нет: увеличение счетчика ошибок, обновление виселицы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5. Отображение оставшихся попыток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6. ПРОВЕРКА: достигнут ли максимум ошибок (k=8)?</a:t>
            </a:r>
          </a:p>
          <a:p>
            <a:r>
              <a:rPr lang="ru-RU" sz="1400" b="1" dirty="0">
                <a:latin typeface="Book Antiqua" panose="02040602050305030304" pitchFamily="18" charset="0"/>
              </a:rPr>
              <a:t>     - Да: выход из цикла</a:t>
            </a:r>
          </a:p>
          <a:p>
            <a:pPr algn="l">
              <a:lnSpc>
                <a:spcPct val="100000"/>
              </a:lnSpc>
            </a:pPr>
            <a:endParaRPr lang="ko-KR" altLang="en-US" sz="24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B9B4A-1D56-5CA4-FFA4-70B3384188DC}"/>
              </a:ext>
            </a:extLst>
          </p:cNvPr>
          <p:cNvSpPr txBox="1"/>
          <p:nvPr/>
        </p:nvSpPr>
        <p:spPr>
          <a:xfrm>
            <a:off x="485003" y="499895"/>
            <a:ext cx="76282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Book Antiqua" panose="02040602050305030304" pitchFamily="18" charset="0"/>
              </a:rPr>
              <a:t>Фаза 3: Основной игровой цикл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00D289-5401-4575-C6EC-602678542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097" y="1214485"/>
            <a:ext cx="5931341" cy="25140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1729E9B-253B-9977-AED2-B0FB7E313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097" y="3887745"/>
            <a:ext cx="5285345" cy="27342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D29951-71BC-2BE5-59B2-D78DCAB54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673"/>
          <a:stretch>
            <a:fillRect/>
          </a:stretch>
        </p:blipFill>
        <p:spPr>
          <a:xfrm>
            <a:off x="288324" y="5534659"/>
            <a:ext cx="5474121" cy="98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294C-3948-9803-8034-0218A8B6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F3B28EE-B3BD-1E21-4CF9-EEB76B14E7A4}"/>
              </a:ext>
            </a:extLst>
          </p:cNvPr>
          <p:cNvSpPr txBox="1"/>
          <p:nvPr/>
        </p:nvSpPr>
        <p:spPr>
          <a:xfrm>
            <a:off x="-66933" y="2356188"/>
            <a:ext cx="593134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ЕСЛИ (все буквы отгаданы):</a:t>
            </a:r>
          </a:p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  - Сообщение о победе</a:t>
            </a:r>
          </a:p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  - Показ загаданного слова</a:t>
            </a:r>
          </a:p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ИНАЧЕ ЕСЛИ (закончились попытки):</a:t>
            </a:r>
          </a:p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  - Сообщение о поражении</a:t>
            </a:r>
          </a:p>
          <a:p>
            <a:pPr algn="ctr"/>
            <a:r>
              <a:rPr lang="ru-RU" sz="1800" b="1" dirty="0">
                <a:latin typeface="Book Antiqua" panose="02040602050305030304" pitchFamily="18" charset="0"/>
              </a:rPr>
              <a:t>  - Показ загаданного слова</a:t>
            </a:r>
          </a:p>
          <a:p>
            <a:pPr algn="ctr">
              <a:lnSpc>
                <a:spcPct val="100000"/>
              </a:lnSpc>
            </a:pPr>
            <a:endParaRPr lang="ko-KR" altLang="en-US" sz="3200" b="1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EF991B-F55D-38A3-1063-A2D2FCA91A42}"/>
              </a:ext>
            </a:extLst>
          </p:cNvPr>
          <p:cNvSpPr/>
          <p:nvPr/>
        </p:nvSpPr>
        <p:spPr>
          <a:xfrm>
            <a:off x="3172651" y="1038047"/>
            <a:ext cx="9019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Фаза 4: Завершение игры</a:t>
            </a:r>
            <a:endParaRPr lang="en-US" altLang="ko-KR" sz="8000" dirty="0">
              <a:latin typeface="Book Antiqua" panose="0204060205030503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389339-F8BC-CD22-F370-5F472FC63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325" y="2562096"/>
            <a:ext cx="6241705" cy="173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1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2">
            <a:extLst>
              <a:ext uri="{FF2B5EF4-FFF2-40B4-BE49-F238E27FC236}">
                <a16:creationId xmlns:a16="http://schemas.microsoft.com/office/drawing/2014/main" id="{A1DF566B-B4B5-36DE-8796-CB16B71F5046}"/>
              </a:ext>
            </a:extLst>
          </p:cNvPr>
          <p:cNvSpPr/>
          <p:nvPr/>
        </p:nvSpPr>
        <p:spPr>
          <a:xfrm>
            <a:off x="3893803" y="784287"/>
            <a:ext cx="9019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5400" b="1" dirty="0">
                <a:latin typeface="Book Antiqua" panose="02040602050305030304" pitchFamily="18" charset="0"/>
              </a:rPr>
              <a:t>Заключение</a:t>
            </a:r>
            <a:endParaRPr lang="en-US" altLang="ko-KR" sz="5400" b="1" dirty="0">
              <a:latin typeface="Book Antiqua" panose="02040602050305030304" pitchFamily="18" charset="0"/>
            </a:endParaRPr>
          </a:p>
        </p:txBody>
      </p:sp>
      <p:sp>
        <p:nvSpPr>
          <p:cNvPr id="4" name="직사각형 22">
            <a:extLst>
              <a:ext uri="{FF2B5EF4-FFF2-40B4-BE49-F238E27FC236}">
                <a16:creationId xmlns:a16="http://schemas.microsoft.com/office/drawing/2014/main" id="{9B754B10-BF96-A92A-5F16-617B35E1A849}"/>
              </a:ext>
            </a:extLst>
          </p:cNvPr>
          <p:cNvSpPr/>
          <p:nvPr/>
        </p:nvSpPr>
        <p:spPr>
          <a:xfrm>
            <a:off x="838901" y="2195728"/>
            <a:ext cx="10637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ook Antiqua" panose="02040602050305030304" pitchFamily="18" charset="0"/>
              </a:rPr>
              <a:t>Освоены принципы структурного программирования на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ook Antiqua" panose="02040602050305030304" pitchFamily="18" charset="0"/>
              </a:rPr>
              <a:t>Приобретены навыки работы с системами контроля версий </a:t>
            </a:r>
            <a:r>
              <a:rPr lang="ru-RU" sz="2400" dirty="0" err="1">
                <a:latin typeface="Book Antiqua" panose="02040602050305030304" pitchFamily="18" charset="0"/>
              </a:rPr>
              <a:t>Git</a:t>
            </a:r>
            <a:endParaRPr lang="ru-RU" sz="24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ook Antiqua" panose="02040602050305030304" pitchFamily="18" charset="0"/>
              </a:rPr>
              <a:t>Получен опыт командной разработки программного обеспечения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ook Antiqua" panose="02040602050305030304" pitchFamily="18" charset="0"/>
              </a:rPr>
              <a:t>Разработана полнофункциональная консольная игра с графическим интерфейсом</a:t>
            </a:r>
          </a:p>
          <a:p>
            <a:endParaRPr lang="en-US" altLang="ko-KR" sz="96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891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F62A-02F9-F308-DDD7-D4B4D109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31417-C594-1D4F-487D-3DF83A9DD0DE}"/>
              </a:ext>
            </a:extLst>
          </p:cNvPr>
          <p:cNvSpPr txBox="1"/>
          <p:nvPr/>
        </p:nvSpPr>
        <p:spPr>
          <a:xfrm>
            <a:off x="1614150" y="2513909"/>
            <a:ext cx="8963700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6000" b="1" dirty="0">
                <a:latin typeface="Book Antiqua" panose="02040602050305030304" pitchFamily="18" charset="0"/>
                <a:cs typeface="Arial" panose="020B0604020202020204" pitchFamily="34" charset="0"/>
              </a:rPr>
              <a:t>Спасибо за внимание!</a:t>
            </a:r>
            <a:endParaRPr lang="ko-KR" altLang="en-US" sz="6000" b="1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41010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 Black - Poppins Light">
      <a:majorFont>
        <a:latin typeface="Poppins Black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F2FFA"/>
        </a:solidFill>
        <a:ln w="12838" cap="flat">
          <a:noFill/>
          <a:prstDash val="solid"/>
          <a:miter/>
        </a:ln>
        <a:effectLst/>
      </a:spPr>
      <a:bodyPr rtlCol="0" anchor="ctr"/>
      <a:lstStyle>
        <a:defPPr algn="ctr">
          <a:defRPr dirty="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">
          <a:solidFill>
            <a:srgbClr val="01DBE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4120</TotalTime>
  <Words>406</Words>
  <Application>Microsoft Office PowerPoint</Application>
  <PresentationFormat>Широкоэкранный</PresentationFormat>
  <Paragraphs>68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Segoe UI Black</vt:lpstr>
      <vt:lpstr>Arial Unicode MS</vt:lpstr>
      <vt:lpstr>Arial</vt:lpstr>
      <vt:lpstr>Malgun Gothic</vt:lpstr>
      <vt:lpstr>Book Antiqua</vt:lpstr>
      <vt:lpstr>Wingdings</vt:lpstr>
      <vt:lpstr>Poppins Light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Пользователь</cp:lastModifiedBy>
  <cp:revision>259</cp:revision>
  <dcterms:created xsi:type="dcterms:W3CDTF">2019-04-06T05:20:47Z</dcterms:created>
  <dcterms:modified xsi:type="dcterms:W3CDTF">2025-11-14T19:17:31Z</dcterms:modified>
</cp:coreProperties>
</file>